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76" r:id="rId2"/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  <p:sldId id="29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651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3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A651"/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rgbClr val="00A651"/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rgbClr val="00A651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Ablekuma Central</c:v>
                </c:pt>
                <c:pt idx="1">
                  <c:v>Hohoe Municipal</c:v>
                </c:pt>
                <c:pt idx="2">
                  <c:v>East Gonja Municipal</c:v>
                </c:pt>
                <c:pt idx="3">
                  <c:v>Yilo Krobo Municipal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42.7</c:v>
                </c:pt>
                <c:pt idx="1">
                  <c:v>25</c:v>
                </c:pt>
                <c:pt idx="2">
                  <c:v>15.2</c:v>
                </c:pt>
                <c:pt idx="3">
                  <c:v>8.3000000000000007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23169888"/>
        <c:axId val="1523172064"/>
      </c:barChart>
      <c:catAx>
        <c:axId val="1523169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23172064"/>
        <c:crosses val="autoZero"/>
        <c:auto val="1"/>
        <c:lblAlgn val="ctr"/>
        <c:lblOffset val="100"/>
        <c:noMultiLvlLbl val="0"/>
      </c:catAx>
      <c:valAx>
        <c:axId val="15231720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23169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Correct Identification (%)</c:v>
                </c:pt>
              </c:strCache>
            </c:strRef>
          </c:tx>
          <c:spPr>
            <a:solidFill>
              <a:srgbClr val="CC0000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44444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4444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4444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4444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44444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444444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E7B2A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E7B2A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E7B2A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School Zone Ahead</c:v>
                </c:pt>
                <c:pt idx="1">
                  <c:v>Two-Way Traffic</c:v>
                </c:pt>
                <c:pt idx="2">
                  <c:v>Sharp Bend Right</c:v>
                </c:pt>
                <c:pt idx="3">
                  <c:v>Slippery Road</c:v>
                </c:pt>
                <c:pt idx="4">
                  <c:v>Speed Limit (50)</c:v>
                </c:pt>
                <c:pt idx="5">
                  <c:v>No Overtaking</c:v>
                </c:pt>
                <c:pt idx="6">
                  <c:v>Give Way</c:v>
                </c:pt>
                <c:pt idx="7">
                  <c:v>Roundabout Ahead</c:v>
                </c:pt>
                <c:pt idx="8">
                  <c:v>No Entry</c:v>
                </c:pt>
                <c:pt idx="9">
                  <c:v>Pedestrian Crossing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14.9</c:v>
                </c:pt>
                <c:pt idx="1">
                  <c:v>55.7</c:v>
                </c:pt>
                <c:pt idx="2">
                  <c:v>58.3</c:v>
                </c:pt>
                <c:pt idx="3">
                  <c:v>63.3</c:v>
                </c:pt>
                <c:pt idx="4">
                  <c:v>65.599999999999994</c:v>
                </c:pt>
                <c:pt idx="5">
                  <c:v>71.599999999999994</c:v>
                </c:pt>
                <c:pt idx="6">
                  <c:v>71.8</c:v>
                </c:pt>
                <c:pt idx="7">
                  <c:v>75.8</c:v>
                </c:pt>
                <c:pt idx="8">
                  <c:v>76.8</c:v>
                </c:pt>
                <c:pt idx="9">
                  <c:v>83.4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614891952"/>
        <c:axId val="1614892496"/>
      </c:barChart>
      <c:catAx>
        <c:axId val="161489195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1614892496"/>
        <c:crosses val="autoZero"/>
        <c:auto val="1"/>
        <c:lblAlgn val="ctr"/>
        <c:lblOffset val="100"/>
        <c:noMultiLvlLbl val="1"/>
      </c:catAx>
      <c:valAx>
        <c:axId val="1614892496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16148919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EFEFEF"/>
    </a:solidFill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0618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97" y="2063"/>
            <a:ext cx="9144793" cy="5139373"/>
          </a:xfrm>
          <a:prstGeom prst="rect">
            <a:avLst/>
          </a:prstGeom>
        </p:spPr>
      </p:pic>
      <p:sp>
        <p:nvSpPr>
          <p:cNvPr id="3" name="Title 3">
            <a:extLst>
              <a:ext uri="{FF2B5EF4-FFF2-40B4-BE49-F238E27FC236}">
                <a16:creationId xmlns="" xmlns:a16="http://schemas.microsoft.com/office/drawing/2014/main" id="{910BC262-AE59-4EAF-BEF5-36C9A6B8BDD2}"/>
              </a:ext>
            </a:extLst>
          </p:cNvPr>
          <p:cNvSpPr txBox="1">
            <a:spLocks/>
          </p:cNvSpPr>
          <p:nvPr/>
        </p:nvSpPr>
        <p:spPr>
          <a:xfrm>
            <a:off x="41183" y="1143712"/>
            <a:ext cx="9061632" cy="1020067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DETERMINANTS OF MOTORCYCLE CRASH INVOLVEMENT AMONG COMMERCIAL RIDERS IN SELECTED MUNICIPALITIES OF GHANA</a:t>
            </a:r>
            <a:endParaRPr lang="en-GB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3245215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Amanya Kennedy Nanor (UHAS202400814)  |  Nelson Apala Atambire (UHAS202400371)
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Emmanuel Adu-Awuku (UHAS202400654)  |  Philomina Amo Appiah (UHAS202400538)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022455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Mawuli Kushitor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525375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 N. Binka School of Public </a:t>
            </a:r>
            <a:r>
              <a:rPr lang="en-US" sz="1200" dirty="0" smtClean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r>
              <a:rPr lang="en-US" sz="1200" dirty="0" smtClean="0"/>
              <a:t>, Hohoe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970608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97" y="2063"/>
            <a:ext cx="9144793" cy="51393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92472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365760" y="1188720"/>
            <a:ext cx="8412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and Methods</a:t>
            </a:r>
            <a:endParaRPr lang="en-US" sz="160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Area</a:t>
            </a:r>
            <a:endParaRPr lang="en-US" sz="160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Design</a:t>
            </a:r>
            <a:endParaRPr lang="en-US" sz="160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Population &amp; Criteria</a:t>
            </a:r>
            <a:endParaRPr lang="en-US" sz="160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 &amp; Sampling Procedure</a:t>
            </a:r>
            <a:endParaRPr lang="en-US" sz="160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Analysis</a:t>
            </a:r>
            <a:endParaRPr lang="en-US" sz="160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Issues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Recommendations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384558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97" y="2063"/>
            <a:ext cx="9144793" cy="51393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-397" y="120531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365760" y="1244838"/>
            <a:ext cx="8412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traffic injuries (RTIs) are a major global public health challenge — 1.19 million deaths annually (WHO, 2023), with two-thirds among adults of working age (18–59 years).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bears the highest road traffic fatality rate globally — 19.4 deaths per 100,000 population — with a 17% increase in deaths from 2010–2021 (WHO African Region, 2024).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Ghana, motorcycles accounted for approximately 34% of all road traffic crash fatalities in 2021 (GNA, 2022), with 26% of all road traffic injuries linked to motorcycles (Aidoo et al., 2021).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the heavy burden, predisposing risk factors specific to motorcycle riders across diverse Ghanaian districts remain insufficiently studied.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29370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97" y="2063"/>
            <a:ext cx="9144793" cy="51393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96" y="51378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365760" y="11887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Objective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65760" y="16002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identify and assess the predisposing risk factors associated with motorcycle accidents among riders in selected municipalities of Ghana.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365760" y="23317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Objectives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65760" y="2743200"/>
            <a:ext cx="84124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determine the socio-demographic factors associated with motorcycle accident involvement among riders in the four study districts.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examine the behavioural and riding-related risk factors associated with motorcycle accidents.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evaluate motorcycle riders' comprehension of selected road signs and its relationship with accident involvement.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assess the demographic and behavioural factors independently associated with crash involvement using multivariable analysis.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19213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97" y="2063"/>
            <a:ext cx="9144793" cy="51393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4572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365760" y="123444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50" b="1" dirty="0">
                <a:solidFill>
                  <a:srgbClr val="1E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Ablekuma Central (Greater Accra Region): </a:t>
            </a:r>
            <a:r>
              <a:rPr lang="en-US" sz="1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setting — high population density, heavy commercial motorcycle ('Okada') activity, dense traffic.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365760" y="214884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50" b="1" dirty="0">
                <a:solidFill>
                  <a:srgbClr val="1E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Yilo Krobo Municipal (Eastern Region): </a:t>
            </a:r>
            <a:r>
              <a:rPr lang="en-US" sz="1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Peri-urban/hilly terrain — motorcycles widely used for rural mobility; reported fatal collisions on dusty roads.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365760" y="306324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50" b="1" dirty="0">
                <a:solidFill>
                  <a:srgbClr val="1E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Hohoe Municipal (Volta Region): </a:t>
            </a:r>
            <a:r>
              <a:rPr lang="en-US" sz="1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Semi-urban — only 59.2% of commercial riders complied with safety regulations (Hagan et al., 2021).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365760" y="397764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50" b="1" dirty="0">
                <a:solidFill>
                  <a:srgbClr val="1E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Gonja Municipal (Savannah Region): </a:t>
            </a:r>
            <a:r>
              <a:rPr lang="en-US" sz="1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Rural/agrarian — motorcycles serve as the primary mode of transport over long distances with limited infrastructure.</a:t>
            </a:r>
            <a:endParaRPr lang="en-US" sz="1550" dirty="0"/>
          </a:p>
        </p:txBody>
      </p:sp>
    </p:spTree>
    <p:extLst>
      <p:ext uri="{BB962C8B-B14F-4D97-AF65-F5344CB8AC3E}">
        <p14:creationId xmlns:p14="http://schemas.microsoft.com/office/powerpoint/2010/main" val="1261918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97" y="2063"/>
            <a:ext cx="9144793" cy="51393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-397" y="173953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365759" y="1351683"/>
            <a:ext cx="8412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 Quantitative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Design: Descriptive cross-sectional study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Justification: Enabled data collection from all four districts at a single point in time, allowing assessment of associations between variables (Creswell &amp; Creswell, 2018).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is appropriate for observational studies where experimental control is neither feasible nor ethical (Levin, 2006).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applied in similar studies on risk factors for road traffic injuries among motorcyclists in Ghana and sub-Saharan Africa (Dapilah et al., 2017; Konlan et al., 2022).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416963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793" cy="51393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128696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&amp; Criteria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154796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Population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57200" y="1895434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and unregistered commercial and non-commercial motorcycle riders operating in the four selected municipalities (n = 422).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250808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 Criteria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754880" y="250808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Exclusion Criteria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57200" y="2901274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and non-commercial riders operating for ≥ 6 months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Aged 18 years and above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Voluntary consent to participate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754880" y="2901274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smtClean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</a:t>
            </a: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mentally unfit at time of data </a:t>
            </a:r>
            <a:r>
              <a:rPr lang="en-US" sz="1500" dirty="0" smtClean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617720" y="2462362"/>
            <a:ext cx="0" cy="192024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272919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97" y="2063"/>
            <a:ext cx="9144793" cy="51393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-397" y="92472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&amp; Sampling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365760" y="11887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 Determination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365760" y="1536192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Cochran's formula — n₀ = Z²p(1−p)/d² → n₀ = 384; adjusted for 10% non-response → n = 422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Proportional allocation across 4 districts using 2021 GSS population data: Ablekuma Central (136), Yilo Krobo (99), East Gonja (95), Hohoe (92)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65759" y="2746174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Procedure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365759" y="3093646"/>
            <a:ext cx="8412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Multistage stratified cluster sampling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Stratification by district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Cluster selection — motorcycle stations, loading points, major junctions (PPS or simple random)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3: Systematic random sampling of individual riders within clusters (random start, every kth rider)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162199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97" y="2063"/>
            <a:ext cx="9144793" cy="51393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9144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&amp; Analysis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365760" y="11887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365759" y="1495671"/>
            <a:ext cx="8412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interviewer-administered questionnaire via KoBoCollect (mobile digital platform)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sections: Socio-demographics | Riding behaviour (MRBQ) | Road sign knowledge test (10 signs) | Crash history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Pre-tested among 20 riders in Kpando; data collected over two weeks by trained bilingual enumerators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65759" y="294562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700" b="1" dirty="0" smtClean="0">
              <a:solidFill>
                <a:srgbClr val="1E7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700" b="1" dirty="0" smtClean="0">
                <a:solidFill>
                  <a:srgbClr val="1E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</a:t>
            </a:r>
            <a:r>
              <a:rPr lang="en-US" sz="1700" b="1" dirty="0">
                <a:solidFill>
                  <a:srgbClr val="1E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365759" y="3449316"/>
            <a:ext cx="8412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package: SPSS Version 26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statistics: frequencies, percentages, means, standard deviations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analysis: Chi-square tests to assess associations (p &lt; 0.05)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Multivariable analysis: Binary logistic regression — Adjusted Odds Ratios (aOR) with 95% CIs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92530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793" cy="51393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" y="143459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365760" y="1292758"/>
            <a:ext cx="8412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clearance sought from the UHAS Research Ethics Committee (UHAS-REC)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informed consent obtained from all participants prior to data collection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was entirely voluntary — participants could withdraw at any time without consequence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 and anonymity assured — no personal identifiers (names, addresses) collected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stored securely and accessible only to the principal investigators and school authorities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compensation was provided; participants were duly acknowledged in the final report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271991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97" y="2063"/>
            <a:ext cx="9144793" cy="51393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96" y="69612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Sociodemographic Characteristics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0415156"/>
              </p:ext>
            </p:extLst>
          </p:nvPr>
        </p:nvGraphicFramePr>
        <p:xfrm>
          <a:off x="274320" y="1143000"/>
          <a:ext cx="5486400" cy="3520440"/>
        </p:xfrm>
        <a:graphic>
          <a:graphicData uri="http://schemas.openxmlformats.org/drawingml/2006/table">
            <a:tbl>
              <a:tblPr/>
              <a:tblGrid>
                <a:gridCol w="2651760"/>
                <a:gridCol w="1371600"/>
                <a:gridCol w="1463040"/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= 422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Percent (%)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B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age (± SD)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33.58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10.38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Sex: Male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Religion: Christian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Religion: Islam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Secondary education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Tertiary education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Riding &gt; 5 years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Rides every day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valid licence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Owns motorcycle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989320" y="114300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989320" y="1508760"/>
            <a:ext cx="29260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88.4% male riders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age: 33.58 years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79.9% lacked a valid licence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65.6% rode every day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46.7% rode for &gt; 5 years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59.5% non-commercial riders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8919610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97" y="2063"/>
            <a:ext cx="9144793" cy="51393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Prevalence of Motorcycle Crashes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365760" y="117043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prevalence of motorcycle crash involvement was 22.8% across the four study districts.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365760" y="1644291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1: Crash Prevalence by District (%)</a:t>
            </a:r>
            <a:endParaRPr lang="en-US" sz="1400" dirty="0"/>
          </a:p>
        </p:txBody>
      </p:sp>
      <p:graphicFrame>
        <p:nvGraphicFramePr>
          <p:cNvPr id="9" name="Chart 8"/>
          <p:cNvGraphicFramePr/>
          <p:nvPr>
            <p:extLst>
              <p:ext uri="{D42A27DB-BD31-4B8C-83A1-F6EECF244321}">
                <p14:modId xmlns:p14="http://schemas.microsoft.com/office/powerpoint/2010/main" val="4169562466"/>
              </p:ext>
            </p:extLst>
          </p:nvPr>
        </p:nvGraphicFramePr>
        <p:xfrm>
          <a:off x="1602464" y="1808974"/>
          <a:ext cx="5872679" cy="2869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6488542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97" y="2063"/>
            <a:ext cx="9144793" cy="51393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Road Sign Knowledge</a:t>
            </a:r>
            <a:endParaRPr lang="en-US" sz="3200" dirty="0"/>
          </a:p>
        </p:txBody>
      </p:sp>
      <p:sp>
        <p:nvSpPr>
          <p:cNvPr id="10" name="Text 3"/>
          <p:cNvSpPr/>
          <p:nvPr/>
        </p:nvSpPr>
        <p:spPr>
          <a:xfrm>
            <a:off x="365760" y="117043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more than half (50.5%) demonstrated </a:t>
            </a:r>
            <a:r>
              <a:rPr lang="en-US" sz="1600" b="1" dirty="0">
                <a:solidFill>
                  <a:srgbClr val="1E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knowledge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road signs, while 49.5% had </a:t>
            </a:r>
            <a:r>
              <a:rPr lang="en-US" sz="16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knowledge.</a:t>
            </a:r>
            <a:endParaRPr lang="en-US" sz="1600" dirty="0"/>
          </a:p>
        </p:txBody>
      </p:sp>
      <p:sp>
        <p:nvSpPr>
          <p:cNvPr id="11" name="Text 4"/>
          <p:cNvSpPr/>
          <p:nvPr/>
        </p:nvSpPr>
        <p:spPr>
          <a:xfrm>
            <a:off x="365760" y="166420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2: Percentage of Riders with Correct Road Sign Knowledge (%)</a:t>
            </a:r>
            <a:endParaRPr lang="en-US" sz="12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274320" y="1993392"/>
          <a:ext cx="566928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 5"/>
          <p:cNvSpPr/>
          <p:nvPr/>
        </p:nvSpPr>
        <p:spPr>
          <a:xfrm>
            <a:off x="6126480" y="199339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300" dirty="0"/>
          </a:p>
        </p:txBody>
      </p:sp>
      <p:sp>
        <p:nvSpPr>
          <p:cNvPr id="14" name="Text 6"/>
          <p:cNvSpPr/>
          <p:nvPr/>
        </p:nvSpPr>
        <p:spPr>
          <a:xfrm>
            <a:off x="6126480" y="2377440"/>
            <a:ext cx="27432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Riders most familiar with common regulatory signs (Pedestrian Crossing: 83.4%, No Entry: 76.8%)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Zone Ahead — critically low recognition: only 14.9%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Yilo Krobo: highest knowledge (49.3%)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Ablekuma Central: lowest knowledge (40.8%)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861215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27"/>
            <a:ext cx="9144793" cy="51393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" y="8436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Predictors of Crash Involvement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274319" y="117043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3: Significant Predictors from Multivariable Logistic Regression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7022544"/>
              </p:ext>
            </p:extLst>
          </p:nvPr>
        </p:nvGraphicFramePr>
        <p:xfrm>
          <a:off x="274320" y="1572768"/>
          <a:ext cx="8595360" cy="2414016"/>
        </p:xfrm>
        <a:graphic>
          <a:graphicData uri="http://schemas.openxmlformats.org/drawingml/2006/table">
            <a:tbl>
              <a:tblPr/>
              <a:tblGrid>
                <a:gridCol w="2743200"/>
                <a:gridCol w="822960"/>
                <a:gridCol w="1737360"/>
                <a:gridCol w="1463040"/>
                <a:gridCol w="1828800"/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 CI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B2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Stunt riding behaviour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 – 1.11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Higher risk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East Gonja vs Ablekuma Central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1.06 – 5.71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Higher risk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Muslim vs Christian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1.01 – 3.09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Higher risk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Yilo Krobo vs Ablekuma Central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 – 0.51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7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 Lower risk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Riding errors (marginal)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 – 1.00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Not significant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274320" y="42519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"percent" outside parentheses and "%" inside: e.g., Stunt riding was significantly associated with crash involvement (aOR = 1.07, 95% CI: 1.02–1.11, p = 0.004)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6328231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97" y="2063"/>
            <a:ext cx="9144793" cy="513937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588396" y="296654"/>
            <a:ext cx="196720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3200" dirty="0">
              <a:solidFill>
                <a:prstClr val="black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44032" y="1317741"/>
            <a:ext cx="8637402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Key Findings:</a:t>
            </a:r>
            <a:endParaRPr lang="en-US" sz="150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22.8% crash prevalence; stunt riding, district, and religion were the key independent predictors.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Existing Studies:</a:t>
            </a:r>
            <a:endParaRPr lang="en-US" sz="150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prevalence aligns with sub-Saharan African evidence (</a:t>
            </a:r>
            <a:r>
              <a:rPr lang="en-US" sz="15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Konlan</a:t>
            </a: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al., 2022). District variation mirrors findings by </a:t>
            </a:r>
            <a:r>
              <a:rPr lang="en-US" sz="15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Dapilah</a:t>
            </a: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al. (2017) linking road infrastructure to crash risk.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of Findings:</a:t>
            </a:r>
            <a:endParaRPr lang="en-US" sz="150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Stunt riding reflects intentional risk-taking — more dominant than unintentional errors. Religious association likely reflects geographic/occupational clustering not fully captured by other variables.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Knowledge-Practice Gap:</a:t>
            </a:r>
            <a:endParaRPr lang="en-US" sz="150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sign knowledge was not a significant predictor (</a:t>
            </a:r>
            <a:r>
              <a:rPr lang="en-US" sz="15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aOR</a:t>
            </a: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1.52, p = 0.210) — consistent with </a:t>
            </a:r>
            <a:r>
              <a:rPr lang="en-US" sz="15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Abia</a:t>
            </a: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al. (2019): awareness does not guarantee compliance.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8197665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97" y="2063"/>
            <a:ext cx="9144793" cy="513937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70571" y="345307"/>
            <a:ext cx="70028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— Strengths &amp; Limitations</a:t>
            </a:r>
            <a:endParaRPr lang="en-US" sz="3200" dirty="0">
              <a:solidFill>
                <a:prstClr val="black"/>
              </a:solidFill>
            </a:endParaRPr>
          </a:p>
        </p:txBody>
      </p:sp>
      <p:sp>
        <p:nvSpPr>
          <p:cNvPr id="4" name="Text 3"/>
          <p:cNvSpPr/>
          <p:nvPr/>
        </p:nvSpPr>
        <p:spPr>
          <a:xfrm>
            <a:off x="365760" y="117043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Strengths</a:t>
            </a:r>
            <a:endParaRPr lang="en-US" sz="1700" dirty="0"/>
          </a:p>
        </p:txBody>
      </p:sp>
      <p:sp>
        <p:nvSpPr>
          <p:cNvPr id="5" name="Text 4"/>
          <p:cNvSpPr/>
          <p:nvPr/>
        </p:nvSpPr>
        <p:spPr>
          <a:xfrm>
            <a:off x="365760" y="155448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Multi-district design across 4 diverse geographic contexts (urban, peri-urban, semi-urban, rural) enhances generalizability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validated MRBQ instrument for riding behaviour assessment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sample size (n = 422) with proportional allocation adds statistical power</a:t>
            </a:r>
            <a:endParaRPr lang="en-US" sz="1600" dirty="0"/>
          </a:p>
        </p:txBody>
      </p:sp>
      <p:sp>
        <p:nvSpPr>
          <p:cNvPr id="6" name="Text 5"/>
          <p:cNvSpPr/>
          <p:nvPr/>
        </p:nvSpPr>
        <p:spPr>
          <a:xfrm>
            <a:off x="365760" y="27432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Limitations</a:t>
            </a:r>
            <a:endParaRPr lang="en-US" sz="1700" dirty="0"/>
          </a:p>
        </p:txBody>
      </p:sp>
      <p:sp>
        <p:nvSpPr>
          <p:cNvPr id="7" name="Text 6"/>
          <p:cNvSpPr/>
          <p:nvPr/>
        </p:nvSpPr>
        <p:spPr>
          <a:xfrm>
            <a:off x="365760" y="3127248"/>
            <a:ext cx="84124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Cross-sectional design — establishes association but cannot confirm causality; a longitudinal study would be needed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 crash history — subject to recall bias and possible under-reporting due to social desirability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data was self-reported for the past 12 months — exact timeframes for some incidents may be inaccurate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492814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97" y="2063"/>
            <a:ext cx="9144793" cy="5139373"/>
          </a:xfrm>
          <a:prstGeom prst="rect">
            <a:avLst/>
          </a:prstGeom>
        </p:spPr>
      </p:pic>
      <p:sp>
        <p:nvSpPr>
          <p:cNvPr id="3" name="Text 3"/>
          <p:cNvSpPr/>
          <p:nvPr/>
        </p:nvSpPr>
        <p:spPr>
          <a:xfrm>
            <a:off x="365759" y="1376824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spcAft>
                <a:spcPts val="600"/>
              </a:spcAft>
              <a:buNone/>
            </a:pPr>
            <a:r>
              <a:rPr lang="en-US" sz="1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 examined predisposing risk factors for motorcycle crash involvement among 422 riders across four municipalities in Ghana. The overall crash prevalence was 22.8%, with Ablekuma Central recording the highest district-level prevalence (42.7%) and Yilo Krobo the lowest (8.3%). Stunt riding behaviour was the primary behavioural predictor of crash involvement, indicating that intentional risk-taking — rather than unintentional errors — is the dominant driver. District of residence emerged as a strong contextual determinant, with East Gonja riders over twice as likely to report crashes compared to Ablekuma Central. Despite 50.5% of riders demonstrating high road sign knowledge, this did not translate into reduced crash odds — confirming a knowledge-practice gap consistent with evidence from other African contexts. The high proportion of riders without a valid licence (79.9%) further underscores systemic gaps in regulatory oversight. These findings call for targeted, district-specific road safety interventions, stricter licensing enforcement, and behavioural change programmes.</a:t>
            </a:r>
            <a:endParaRPr lang="en-US" sz="1550" dirty="0"/>
          </a:p>
        </p:txBody>
      </p:sp>
      <p:sp>
        <p:nvSpPr>
          <p:cNvPr id="4" name="Rectangle 3"/>
          <p:cNvSpPr/>
          <p:nvPr/>
        </p:nvSpPr>
        <p:spPr>
          <a:xfrm>
            <a:off x="3469775" y="397056"/>
            <a:ext cx="220445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03976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97" y="2063"/>
            <a:ext cx="9144793" cy="5139373"/>
          </a:xfrm>
          <a:prstGeom prst="rect">
            <a:avLst/>
          </a:prstGeom>
        </p:spPr>
      </p:pic>
      <p:sp>
        <p:nvSpPr>
          <p:cNvPr id="2" name="Text 3"/>
          <p:cNvSpPr/>
          <p:nvPr/>
        </p:nvSpPr>
        <p:spPr>
          <a:xfrm>
            <a:off x="365760" y="1170432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DVLA &amp; MTTD: </a:t>
            </a:r>
            <a:endParaRPr lang="en-US" sz="155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mandatory motorcycle licensing and conduct regular roadside checks, prioritising high-crash districts.</a:t>
            </a:r>
            <a:endParaRPr lang="en-US" sz="15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Road Safety Authority (NRSA): </a:t>
            </a:r>
            <a:endParaRPr lang="en-US" sz="155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targeted road safety campaigns for commercial riders, with emphasis on stunt riding and school zone sign recognition.</a:t>
            </a:r>
            <a:endParaRPr lang="en-US" sz="15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Assemblies: </a:t>
            </a:r>
            <a:endParaRPr lang="en-US" sz="155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district-specific interventions addressing local crash determinants — rural road hazards in East Gonja; urban traffic density in Ablekuma Central.</a:t>
            </a:r>
            <a:endParaRPr lang="en-US" sz="15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Transport: </a:t>
            </a:r>
            <a:endParaRPr lang="en-US" sz="155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mandatory pre-licensing behavioural training covering riding errors, stunts, and road sign comprehension.</a:t>
            </a:r>
            <a:endParaRPr lang="en-US" sz="1550" dirty="0"/>
          </a:p>
        </p:txBody>
      </p:sp>
      <p:sp>
        <p:nvSpPr>
          <p:cNvPr id="4" name="Rectangle 3"/>
          <p:cNvSpPr/>
          <p:nvPr/>
        </p:nvSpPr>
        <p:spPr>
          <a:xfrm>
            <a:off x="2888975" y="363693"/>
            <a:ext cx="336605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3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49484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97" y="2063"/>
            <a:ext cx="9144793" cy="51393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545949" y="293860"/>
            <a:ext cx="20521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365760" y="1170432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Adanu, E. K., Aidoo, E. N., &amp; Mohammed, A. S. (2022). Motorcycle crash fatalities and injuries in Ghana. World Journal of Advanced Research and Reviews, 15(2), 294–302.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Aidoo, E. N., Amoh, S. E., &amp; Agyei, S. K. (2021). Injury patterns among motorcycle crash victims in Ghana. BMC Public Health, 21(1), 112–120.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Dapilah, F., Guba, B., &amp; Adongo, R. (2017). Motorcyclist characteristics and traffic behaviour in urban northern Ghana. Transportation Research Procedia, 25, 1788–1797.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Hagan, D., Tarkang, E. E., &amp; Aku, F. Y. (2021). Compliance of commercial motorcycle riders with road safety regulations. PLOS ONE, 16(3), e0246965.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Konlan, K. D., Abekah-Carter, K., &amp; Amegah, K. E. (2022). Factors associated with motorcycle-related road traffic crashes in Africa. BMC Public Health, 22(1), 2050.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Health Organization. (2023). Road traffic injuries: Fact sheet. https://www.who.int/news-room/fact-sheets/detail/road-traffic-injuries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0196150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159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381449" y="277626"/>
            <a:ext cx="238110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43" y="2026619"/>
            <a:ext cx="8230313" cy="56088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2465" y="2559557"/>
            <a:ext cx="5499069" cy="2438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842" y="2704725"/>
            <a:ext cx="8230313" cy="80474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841" y="3630249"/>
            <a:ext cx="8230313" cy="371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352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1867</Words>
  <Application>Microsoft Office PowerPoint</Application>
  <PresentationFormat>On-screen Show (16:9)</PresentationFormat>
  <Paragraphs>201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Determinants of Motorcycle Crash Involvement</dc:title>
  <dc:subject>PptxGenJS Presentation</dc:subject>
  <dc:creator>PptxGenJS</dc:creator>
  <cp:lastModifiedBy>iuser</cp:lastModifiedBy>
  <cp:revision>14</cp:revision>
  <dcterms:created xsi:type="dcterms:W3CDTF">2026-03-26T09:32:26Z</dcterms:created>
  <dcterms:modified xsi:type="dcterms:W3CDTF">2026-03-26T16:55:28Z</dcterms:modified>
</cp:coreProperties>
</file>